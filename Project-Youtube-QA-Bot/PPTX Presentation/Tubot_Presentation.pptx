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jmZ4dlBXzcj51dfqfynqToSN4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5484D"/>
          </a:solidFill>
          <a:ln cap="flat" cmpd="sng" w="12700">
            <a:solidFill>
              <a:srgbClr val="E548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02920" y="731520"/>
            <a:ext cx="8229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9600"/>
              <a:buFont typeface="Trebuchet MS"/>
              <a:buNone/>
            </a:pPr>
            <a:r>
              <a:rPr b="1" i="0" lang="en-US" sz="96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TUBOT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02920" y="237744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YouTube QA Bot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02920" y="28346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A Multimodal RAG-Powered Conversational Assistant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02920" y="3383280"/>
            <a:ext cx="7772400" cy="1371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502920" y="3566160"/>
            <a:ext cx="9738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LangChain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613916" y="3566160"/>
            <a:ext cx="9738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LangGraph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2724912" y="3566160"/>
            <a:ext cx="8961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ChromaDB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3758184" y="3566160"/>
            <a:ext cx="11292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GPT-4o-mini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024628" y="3566160"/>
            <a:ext cx="8183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Whisper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5980176" y="3566160"/>
            <a:ext cx="9738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Streamlit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7091172" y="3566160"/>
            <a:ext cx="9738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LangSmith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502920" y="475488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Ironhack Final Project  ·  202</a:t>
            </a: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/>
          <p:nvPr/>
        </p:nvSpPr>
        <p:spPr>
          <a:xfrm>
            <a:off x="457200" y="420624"/>
            <a:ext cx="91440" cy="914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5484D"/>
          </a:solidFill>
          <a:ln cap="flat" cmpd="sng" w="12700">
            <a:solidFill>
              <a:srgbClr val="E548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640080" y="365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57200" y="658368"/>
            <a:ext cx="475488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Video is the world's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fastest-growing medium —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and the hardest to search.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669280" y="777240"/>
            <a:ext cx="3017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5200"/>
              <a:buFont typeface="Trebuchet MS"/>
              <a:buNone/>
            </a:pPr>
            <a:r>
              <a:rPr b="1" i="0" lang="en-US" sz="5200" u="none" cap="none" strike="noStrike">
                <a:solidFill>
                  <a:srgbClr val="E5484D"/>
                </a:solidFill>
                <a:latin typeface="Trebuchet MS"/>
                <a:ea typeface="Trebuchet MS"/>
                <a:cs typeface="Trebuchet MS"/>
                <a:sym typeface="Trebuchet MS"/>
              </a:rPr>
              <a:t>5.1B+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669280" y="155448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videos on YouTube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669280" y="2103120"/>
            <a:ext cx="3017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5200"/>
              <a:buFont typeface="Trebuchet MS"/>
              <a:buNone/>
            </a:pPr>
            <a:r>
              <a:rPr b="1" i="0" lang="en-US" sz="5200" u="none" cap="none" strike="noStrike">
                <a:solidFill>
                  <a:srgbClr val="E5484D"/>
                </a:solidFill>
                <a:latin typeface="Trebuchet MS"/>
                <a:ea typeface="Trebuchet MS"/>
                <a:cs typeface="Trebuchet MS"/>
                <a:sym typeface="Trebuchet MS"/>
              </a:rPr>
              <a:t>500hrs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669280" y="288036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of video uploaded every minute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57200" y="2880360"/>
            <a:ext cx="4754880" cy="1371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457200" y="30175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777240" y="3017520"/>
            <a:ext cx="4709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Only ~20% of video content is ever fully watched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57200" y="336499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777240" y="3364992"/>
            <a:ext cx="4709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No way to ask natural language questions about video content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57200" y="371246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777240" y="3712464"/>
            <a:ext cx="4709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The information is in there — there's just no way to get to it quickly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/>
          <p:nvPr/>
        </p:nvSpPr>
        <p:spPr>
          <a:xfrm>
            <a:off x="457200" y="420624"/>
            <a:ext cx="91440" cy="914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5484D"/>
          </a:solidFill>
          <a:ln cap="flat" cmpd="sng" w="12700">
            <a:solidFill>
              <a:srgbClr val="E548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640080" y="365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57200" y="621792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Ask anything about any YouTube video.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457200" y="1353312"/>
            <a:ext cx="8229600" cy="1371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457200" y="148132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E5484D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1005840" y="1664208"/>
            <a:ext cx="13716" cy="731520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1188720" y="1481328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Ingest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1188720" y="1828800"/>
            <a:ext cx="7498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Paste any YouTube URL — transcript fetched, chunked, embedded into ChromaDB in real time. No retraining required.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57200" y="212140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E5484D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005840" y="2304288"/>
            <a:ext cx="13716" cy="731520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1188720" y="2121408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Retrieve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1188720" y="2468880"/>
            <a:ext cx="7498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RAG pipeline finds the most semantically relevant transcript chunks. Grounds answers in source material, reducing hallucinations.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457200" y="276148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E5484D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005840" y="2944368"/>
            <a:ext cx="13716" cy="731520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1188720" y="2761488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Reason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188720" y="3108960"/>
            <a:ext cx="7498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LangGraph ReAct agent reasons step by step and decides which tool to call — transcript search or general knowledge fallback.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57200" y="340156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E5484D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005840" y="3584448"/>
            <a:ext cx="13716" cy="731520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1188720" y="3401568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Respond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188720" y="3749040"/>
            <a:ext cx="7498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GPT-4o-mini generates a cited answer referencing the source video and category. Memory persists across the session.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57200" y="404164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E5484D"/>
                </a:solidFill>
                <a:latin typeface="Trebuchet MS"/>
                <a:ea typeface="Trebuchet MS"/>
                <a:cs typeface="Trebuchet MS"/>
                <a:sym typeface="Trebuchet MS"/>
              </a:rPr>
              <a:t>05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005790" y="4114803"/>
            <a:ext cx="13800" cy="731400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1188720" y="4041648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Voice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188720" y="4389120"/>
            <a:ext cx="7498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Local Whisper on RTX 5080 converts spoken questions to text — multimodal input with no API cost.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457200" y="4773168"/>
            <a:ext cx="8229600" cy="1371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457200" y="482803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Cross-video analysis: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2286000" y="4828032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Load 3 competitor videos and ask "compare pricing models across all three" — Tubot answers across all simultaneously.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/>
          <p:nvPr/>
        </p:nvSpPr>
        <p:spPr>
          <a:xfrm>
            <a:off x="457200" y="420624"/>
            <a:ext cx="91440" cy="914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5484D"/>
          </a:solidFill>
          <a:ln cap="flat" cmpd="sng" w="12700">
            <a:solidFill>
              <a:srgbClr val="E548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640080" y="365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TECH STACK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457200" y="621792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The stack — and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why each piece.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57200" y="16916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LangChain + LangGraph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457200" y="1947672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ReAct agent — replaced older chains in v0.1+ for reliable tool-calling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457200" y="220370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ChromaDB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57200" y="2459736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Fully local vector store — zero hosting cost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457200" y="271576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GPT-4o-mini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57200" y="297180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$0.15/1M tokens · 82% MMLU · 10× cheaper than GPT-4o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57200" y="32278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text-embedding-3-small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57200" y="3483864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$0.02/1M tokens — entire dataset embedded for ~$0.001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57200" y="3739896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Whisper (local GPU)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457200" y="3995928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RTX 5080 + CUDA 12.8 — eliminates ~$0.006/min API cost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457200" y="425196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Streamlit + LangSmith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457200" y="4507992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Web UI with live ingestion · tracing, evaluation, and cost tracking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760720" y="1691640"/>
            <a:ext cx="13716" cy="3200400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6035040" y="169164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4800"/>
              <a:buFont typeface="Trebuchet MS"/>
              <a:buNone/>
            </a:pPr>
            <a:r>
              <a:rPr b="1" i="0" lang="en-US" sz="4800" u="none" cap="none" strike="noStrike">
                <a:solidFill>
                  <a:srgbClr val="E5484D"/>
                </a:solidFill>
                <a:latin typeface="Trebuchet MS"/>
                <a:ea typeface="Trebuchet MS"/>
                <a:cs typeface="Trebuchet MS"/>
                <a:sym typeface="Trebuchet MS"/>
              </a:rPr>
              <a:t>82%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6035040" y="22860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MMLU benchmark score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GPT-4o-mini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5943600" y="2926080"/>
            <a:ext cx="2743200" cy="1371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6035040" y="306324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4800"/>
              <a:buFont typeface="Trebuchet MS"/>
              <a:buNone/>
            </a:pPr>
            <a:r>
              <a:rPr b="1" i="0" lang="en-US" sz="4800" u="none" cap="none" strike="noStrike">
                <a:solidFill>
                  <a:srgbClr val="E5484D"/>
                </a:solidFill>
                <a:latin typeface="Trebuchet MS"/>
                <a:ea typeface="Trebuchet MS"/>
                <a:cs typeface="Trebuchet MS"/>
                <a:sym typeface="Trebuchet MS"/>
              </a:rPr>
              <a:t>33×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035040" y="36576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cheaper per token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vs GPT-4o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57200" y="4800600"/>
            <a:ext cx="8229600" cy="1371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Hardware: RTX 5080  ·  CUDA 12.8  ·  Python 3.12.3  ·  WSL Ubuntu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/>
          <p:nvPr/>
        </p:nvSpPr>
        <p:spPr>
          <a:xfrm>
            <a:off x="457200" y="420624"/>
            <a:ext cx="91440" cy="914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5484D"/>
          </a:solidFill>
          <a:ln cap="flat" cmpd="sng" w="12700">
            <a:solidFill>
              <a:srgbClr val="E548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640080" y="365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DATA PIPELINE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57200" y="621792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9 videos · 514 chunks · $0.001 total.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457200" y="1463040"/>
            <a:ext cx="8229600" cy="1371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457200" y="160020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YouTube URL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457200" y="1901952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youtube-transcript-api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1920240" y="1627632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400"/>
              <a:buFont typeface="Trebuchet MS"/>
              <a:buNone/>
            </a:pPr>
            <a:r>
              <a:rPr b="0" i="0" lang="en-US" sz="1400" u="none" cap="none" strike="noStrike">
                <a:solidFill>
                  <a:srgbClr val="E5484D"/>
                </a:solidFill>
                <a:latin typeface="Trebuchet MS"/>
                <a:ea typeface="Trebuchet MS"/>
                <a:cs typeface="Trebuchet MS"/>
                <a:sym typeface="Trebuchet MS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2148840" y="160020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Raw Transcript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2148840" y="1901952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JSON + metadata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3611880" y="1627632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400"/>
              <a:buFont typeface="Trebuchet MS"/>
              <a:buNone/>
            </a:pPr>
            <a:r>
              <a:rPr b="0" i="0" lang="en-US" sz="1400" u="none" cap="none" strike="noStrike">
                <a:solidFill>
                  <a:srgbClr val="E5484D"/>
                </a:solidFill>
                <a:latin typeface="Trebuchet MS"/>
                <a:ea typeface="Trebuchet MS"/>
                <a:cs typeface="Trebuchet MS"/>
                <a:sym typeface="Trebuchet MS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3840480" y="160020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514 Chunks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3840480" y="1901952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500 chars · 50 overlap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5303520" y="1627632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400"/>
              <a:buFont typeface="Trebuchet MS"/>
              <a:buNone/>
            </a:pPr>
            <a:r>
              <a:rPr b="0" i="0" lang="en-US" sz="1400" u="none" cap="none" strike="noStrike">
                <a:solidFill>
                  <a:srgbClr val="E5484D"/>
                </a:solidFill>
                <a:latin typeface="Trebuchet MS"/>
                <a:ea typeface="Trebuchet MS"/>
                <a:cs typeface="Trebuchet MS"/>
                <a:sym typeface="Trebuchet MS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5532120" y="160020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Embeddings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5532120" y="1901952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text-embedding-3-small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6995160" y="1627632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400"/>
              <a:buFont typeface="Trebuchet MS"/>
              <a:buNone/>
            </a:pPr>
            <a:r>
              <a:rPr b="0" i="0" lang="en-US" sz="1400" u="none" cap="none" strike="noStrike">
                <a:solidFill>
                  <a:srgbClr val="E5484D"/>
                </a:solidFill>
                <a:latin typeface="Trebuchet MS"/>
                <a:ea typeface="Trebuchet MS"/>
                <a:cs typeface="Trebuchet MS"/>
                <a:sym typeface="Trebuchet MS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7223760" y="160020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ChromaDB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7223760" y="1901952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persisted to disk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57200" y="2331720"/>
            <a:ext cx="8229600" cy="1371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457200" y="246888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Embedding Cost Breakdown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457200" y="283464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777240" y="2834640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514 chunks × 500 chars avg = ~257,000 characters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457200" y="316382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777240" y="3163824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257,000 chars ÷ 4 = ~64,000 tokens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457200" y="349300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777240" y="3493008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text-embedding-3-small = $0.02 per 1,000,000 tokens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457200" y="382219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777240" y="3822192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64,000 ÷ 1,000,000 × $0.02 = ~$0.001 total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457200" y="415137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777240" y="4151376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Embedded once · persisted · zero recurring cost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4846320" y="2468880"/>
            <a:ext cx="13716" cy="2377440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5120640" y="246888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Video Categories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5120640" y="2926080"/>
            <a:ext cx="73152" cy="475488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5349240" y="28803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Education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5349240" y="315468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Neural Nets · Gradient Descent · Transformers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5120640" y="3584448"/>
            <a:ext cx="73152" cy="475488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5349240" y="353872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Tech / AI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5349240" y="3813048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GPT-4 · LangChain · RAG Explained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120640" y="4242816"/>
            <a:ext cx="73152" cy="475488"/>
          </a:xfrm>
          <a:prstGeom prst="rect">
            <a:avLst/>
          </a:prstGeom>
          <a:solidFill>
            <a:srgbClr val="A855F7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5349240" y="4197096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Entertainment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5349240" y="4471416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Bad Bunny · Erwin AOT · Fantano IGOR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/>
          <p:nvPr/>
        </p:nvSpPr>
        <p:spPr>
          <a:xfrm>
            <a:off x="457200" y="420624"/>
            <a:ext cx="91440" cy="914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5484D"/>
          </a:solidFill>
          <a:ln cap="flat" cmpd="sng" w="12700">
            <a:solidFill>
              <a:srgbClr val="E548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640080" y="365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457200" y="621792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ReAct agent · two tools · persistent memory.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457200" y="1463040"/>
            <a:ext cx="8229600" cy="1371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457200" y="1600200"/>
            <a:ext cx="1828800" cy="54864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457200" y="160020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User Question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2286000" y="1709928"/>
            <a:ext cx="274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400"/>
              <a:buFont typeface="Trebuchet MS"/>
              <a:buNone/>
            </a:pPr>
            <a:r>
              <a:rPr b="0" i="0" lang="en-US" sz="1400" u="none" cap="none" strike="noStrike">
                <a:solidFill>
                  <a:srgbClr val="E5484D"/>
                </a:solidFill>
                <a:latin typeface="Trebuchet MS"/>
                <a:ea typeface="Trebuchet MS"/>
                <a:cs typeface="Trebuchet MS"/>
                <a:sym typeface="Trebuchet MS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2560320" y="1600200"/>
            <a:ext cx="1828800" cy="548640"/>
          </a:xfrm>
          <a:prstGeom prst="rect">
            <a:avLst/>
          </a:prstGeom>
          <a:solidFill>
            <a:srgbClr val="E5484D"/>
          </a:solidFill>
          <a:ln cap="flat" cmpd="sng" w="12700">
            <a:solidFill>
              <a:srgbClr val="E548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2560320" y="160020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ReAct Agent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4389120" y="1709928"/>
            <a:ext cx="274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400"/>
              <a:buFont typeface="Trebuchet MS"/>
              <a:buNone/>
            </a:pPr>
            <a:r>
              <a:rPr b="0" i="0" lang="en-US" sz="1400" u="none" cap="none" strike="noStrike">
                <a:solidFill>
                  <a:srgbClr val="E5484D"/>
                </a:solidFill>
                <a:latin typeface="Trebuchet MS"/>
                <a:ea typeface="Trebuchet MS"/>
                <a:cs typeface="Trebuchet MS"/>
                <a:sym typeface="Trebuchet MS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4663440" y="1600200"/>
            <a:ext cx="1828800" cy="54864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4663440" y="160020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Tool Selection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492240" y="1709928"/>
            <a:ext cx="274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400"/>
              <a:buFont typeface="Trebuchet MS"/>
              <a:buNone/>
            </a:pPr>
            <a:r>
              <a:rPr b="0" i="0" lang="en-US" sz="1400" u="none" cap="none" strike="noStrike">
                <a:solidFill>
                  <a:srgbClr val="E5484D"/>
                </a:solidFill>
                <a:latin typeface="Trebuchet MS"/>
                <a:ea typeface="Trebuchet MS"/>
                <a:cs typeface="Trebuchet MS"/>
                <a:sym typeface="Trebuchet MS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6766560" y="1600200"/>
            <a:ext cx="1828800" cy="54864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6766560" y="160020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Answer + Citation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457200" y="2377440"/>
            <a:ext cx="54864" cy="77724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640080" y="2377440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Transcript Retriever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640080" y="2679192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k=6 semantic search across all embedded chunks. Always called first. Returns source video + category with every result.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4846320" y="2377440"/>
            <a:ext cx="54864" cy="777240"/>
          </a:xfrm>
          <a:prstGeom prst="rect">
            <a:avLst/>
          </a:prstGeom>
          <a:solidFill>
            <a:srgbClr val="999999"/>
          </a:solidFill>
          <a:ln cap="flat" cmpd="sng" w="127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5029200" y="2377440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General Knowledge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5029200" y="2679192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GPT-4o-mini fallback. If the transcript comes up empty, it falls back to general knowledge.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457200" y="3337560"/>
            <a:ext cx="8229600" cy="1371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457200" y="347472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E5484D"/>
                </a:solidFill>
                <a:latin typeface="Trebuchet MS"/>
                <a:ea typeface="Trebuchet MS"/>
                <a:cs typeface="Trebuchet MS"/>
                <a:sym typeface="Trebuchet MS"/>
              </a:rPr>
              <a:t>Memory: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1463040" y="347472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RunnableWithMessageHistory — chat history survives new video ingestion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4892040" y="347472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E5484D"/>
                </a:solidFill>
                <a:latin typeface="Trebuchet MS"/>
                <a:ea typeface="Trebuchet MS"/>
                <a:cs typeface="Trebuchet MS"/>
                <a:sym typeface="Trebuchet MS"/>
              </a:rPr>
              <a:t>Context: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5897880" y="347472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6 chunks × ~500 chars = ~3,000 chars per query, well within 128k token window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457200" y="4133088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E5484D"/>
                </a:solidFill>
                <a:latin typeface="Trebuchet MS"/>
                <a:ea typeface="Trebuchet MS"/>
                <a:cs typeface="Trebuchet MS"/>
                <a:sym typeface="Trebuchet MS"/>
              </a:rPr>
              <a:t>Citations: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1463040" y="4133088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System prompt enforces video title + category citation on every answer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4892040" y="4133088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E5484D"/>
                </a:solidFill>
                <a:latin typeface="Trebuchet MS"/>
                <a:ea typeface="Trebuchet MS"/>
                <a:cs typeface="Trebuchet MS"/>
                <a:sym typeface="Trebuchet MS"/>
              </a:rPr>
              <a:t>Metadata: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5897880" y="4133088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Category filtering allows scoped queries — e.g. search only tech/AI videos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"/>
          <p:cNvSpPr/>
          <p:nvPr/>
        </p:nvSpPr>
        <p:spPr>
          <a:xfrm>
            <a:off x="457200" y="420624"/>
            <a:ext cx="91440" cy="914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5484D"/>
          </a:solidFill>
          <a:ln cap="flat" cmpd="sng" w="12700">
            <a:solidFill>
              <a:srgbClr val="E548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640080" y="365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457200" y="658368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Real traces. Real numbers.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457200" y="1463040"/>
            <a:ext cx="8229600" cy="1371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457200" y="160020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E5484D"/>
                </a:solidFill>
                <a:latin typeface="Trebuchet MS"/>
                <a:ea typeface="Trebuchet MS"/>
                <a:cs typeface="Trebuchet MS"/>
                <a:sym typeface="Trebuchet MS"/>
              </a:rPr>
              <a:t>50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457200" y="224028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traces collected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4616675" y="1600200"/>
            <a:ext cx="1920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E5484D"/>
                </a:solidFill>
                <a:latin typeface="Trebuchet MS"/>
                <a:ea typeface="Trebuchet MS"/>
                <a:cs typeface="Trebuchet MS"/>
                <a:sym typeface="Trebuchet MS"/>
              </a:rPr>
              <a:t>0%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4583163" y="2258630"/>
            <a:ext cx="1920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error 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2514575" y="1664188"/>
            <a:ext cx="1920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E5484D"/>
                </a:solidFill>
                <a:latin typeface="Trebuchet MS"/>
                <a:ea typeface="Trebuchet MS"/>
                <a:cs typeface="Trebuchet MS"/>
                <a:sym typeface="Trebuchet MS"/>
              </a:rPr>
              <a:t>4.91s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2536913" y="2258618"/>
            <a:ext cx="1920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median latency (P50)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6629400" y="160020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E5484D"/>
                </a:solidFill>
                <a:latin typeface="Trebuchet MS"/>
                <a:ea typeface="Trebuchet MS"/>
                <a:cs typeface="Trebuchet MS"/>
                <a:sym typeface="Trebuchet MS"/>
              </a:rPr>
              <a:t>$0.02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6629400" y="224028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total API cost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457200" y="2651760"/>
            <a:ext cx="8229600" cy="1371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457200" y="27889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What worked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457200" y="312724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777240" y="3127248"/>
            <a:ext cx="7452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RAG retrieval clean across all 3 categories — cited source on every answer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457200" y="34290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777240" y="3429000"/>
            <a:ext cx="7452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Bilingual quality improved after Whisper re-ingestion of Bad Bunny + Erwin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457200" y="373075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777240" y="3730752"/>
            <a:ext cx="7452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Voice input working end-to-end — mic → Whisper → agent → answer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457200" y="403250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777240" y="4032504"/>
            <a:ext cx="7452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Dynamic ingestion tested live — new video added without losing chat history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457200" y="433425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777240" y="4334256"/>
            <a:ext cx="7452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Handles out-of-scope questions via general knowledge fallback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457200" y="463600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777240" y="4636008"/>
            <a:ext cx="7452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Whisper transcription toggle added to ingestion panel for future videos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"/>
          <p:cNvSpPr/>
          <p:nvPr/>
        </p:nvSpPr>
        <p:spPr>
          <a:xfrm>
            <a:off x="457200" y="420624"/>
            <a:ext cx="91440" cy="914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5484D"/>
          </a:solidFill>
          <a:ln cap="flat" cmpd="sng" w="12700">
            <a:solidFill>
              <a:srgbClr val="E548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640080" y="365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457200" y="658368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Honest about the </a:t>
            </a:r>
            <a:r>
              <a:rPr b="1" lang="en-US" sz="3200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flaws</a:t>
            </a:r>
            <a:r>
              <a:rPr b="1" i="0" lang="en-US" sz="32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457200" y="1463040"/>
            <a:ext cx="8229600" cy="1371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457200" y="162763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Bilingual caption degradation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4754880" y="1655064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RESOLVED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57200" y="19202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YouTube ASR drops to 40–60% accuracy on code-switched speech. Bad Bunny transcripts were initially garbled.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4754880" y="19202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→ Whisper re-ingestion via local GPU delivers near-human accuracy across 97 languages.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457200" y="2340864"/>
            <a:ext cx="8229600" cy="1371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457200" y="245059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No timestamp-level retrieval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4754880" y="2478024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PLANNED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457200" y="27432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Chunks don't carry timestamp metadata — queries like 'what did he say at 2:30' can't resolve to the exact moment.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4754880" y="274320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→ Next step: inject Whisper segment timestamps into chunk metadata during ingestion.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457200" y="3163824"/>
            <a:ext cx="8229600" cy="1371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457200" y="327355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Session-scoped memory only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4754880" y="3300984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PLANNED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457200" y="356616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Chat history is tied to the current Streamlit session — closing the tab resets the conversation.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4754880" y="356616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→ Redis or SQLite persistence layer for cross-session memory.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457200" y="3986784"/>
            <a:ext cx="8229600" cy="1371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457200" y="409651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Embedding similarity ≠ intent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4754880" y="4123944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PLANNED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457200" y="438912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Phrasing differences ('last 10 seconds' vs 'last ten seconds') can produce different retrieval results.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4754880" y="43891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→ Query rewriting or HyDE (Hypothetical Document Embeddings) as a retrieval enhancement.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"/>
          <p:cNvSpPr/>
          <p:nvPr/>
        </p:nvSpPr>
        <p:spPr>
          <a:xfrm>
            <a:off x="457200" y="420624"/>
            <a:ext cx="91440" cy="914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5484D"/>
          </a:solidFill>
          <a:ln cap="flat" cmpd="sng" w="12700">
            <a:solidFill>
              <a:srgbClr val="E548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640080" y="365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457200" y="658368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Tubot — live.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457200" y="1463040"/>
            <a:ext cx="8229600" cy="1371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457200" y="1627632"/>
            <a:ext cx="411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960120" y="1682496"/>
            <a:ext cx="13716" cy="502920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1097280" y="1627632"/>
            <a:ext cx="6309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What is RAG and how does it reduce hallucinations in language models?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7589520" y="1673352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Tech /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457200" y="2295144"/>
            <a:ext cx="411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A855F7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960120" y="2350008"/>
            <a:ext cx="13716" cy="502920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1097280" y="2295144"/>
            <a:ext cx="6309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What does Erwin say about the meaning of life and death on the battlefield?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7589520" y="2340864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Entertainment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457200" y="2962656"/>
            <a:ext cx="411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A855F7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960120" y="3017520"/>
            <a:ext cx="13716" cy="502920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1097280" y="2962656"/>
            <a:ext cx="6309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What song did Bad Bunny choose for his WWE entrance and why?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7589520" y="300837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Entertainment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457200" y="3630168"/>
            <a:ext cx="411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999999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960120" y="3685032"/>
            <a:ext cx="13716" cy="502920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1097280" y="3630168"/>
            <a:ext cx="6309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Ask a follow-up question to show the agent remembers the previous answer.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7589520" y="367588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Memory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457200" y="4297680"/>
            <a:ext cx="411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E5484D"/>
                </a:solidFill>
                <a:latin typeface="Trebuchet MS"/>
                <a:ea typeface="Trebuchet MS"/>
                <a:cs typeface="Trebuchet MS"/>
                <a:sym typeface="Trebuchet MS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960120" y="4352544"/>
            <a:ext cx="13716" cy="502920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1097280" y="4297680"/>
            <a:ext cx="6309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Ask anything via microphone — mic → Whisper → agent → answer.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7589520" y="434340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Voice / Multimodal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5484D"/>
          </a:solidFill>
          <a:ln cap="flat" cmpd="sng" w="12700">
            <a:solidFill>
              <a:srgbClr val="E548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502920" y="420624"/>
            <a:ext cx="91440" cy="914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5484D"/>
          </a:solidFill>
          <a:ln cap="flat" cmpd="sng" w="12700">
            <a:solidFill>
              <a:srgbClr val="E548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0"/>
          <p:cNvSpPr/>
          <p:nvPr/>
        </p:nvSpPr>
        <p:spPr>
          <a:xfrm>
            <a:off x="685800" y="365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502920" y="640080"/>
            <a:ext cx="50292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400"/>
              <a:buFont typeface="Trebuchet MS"/>
              <a:buNone/>
            </a:pPr>
            <a:r>
              <a:rPr b="1" i="0" lang="en-US" sz="34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Less than a week.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400"/>
              <a:buFont typeface="Trebuchet MS"/>
              <a:buNone/>
            </a:pPr>
            <a:r>
              <a:rPr b="1" i="0" lang="en-US" sz="34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Less than a dollar.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400"/>
              <a:buFont typeface="Trebuchet MS"/>
              <a:buNone/>
            </a:pPr>
            <a:r>
              <a:rPr b="1" i="0" lang="en-US" sz="3400" u="none" cap="none" strike="noStrike">
                <a:solidFill>
                  <a:srgbClr val="F2F2F2"/>
                </a:solidFill>
                <a:latin typeface="Trebuchet MS"/>
                <a:ea typeface="Trebuchet MS"/>
                <a:cs typeface="Trebuchet MS"/>
                <a:sym typeface="Trebuchet MS"/>
              </a:rPr>
              <a:t>Somehow it works.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502920" y="2697480"/>
            <a:ext cx="8229600" cy="1371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502920" y="28346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E5484D"/>
                </a:solidFill>
                <a:latin typeface="Trebuchet MS"/>
                <a:ea typeface="Trebuchet MS"/>
                <a:cs typeface="Trebuchet MS"/>
                <a:sym typeface="Trebuchet MS"/>
              </a:rPr>
              <a:t>What was built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502920" y="318211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822960" y="3182112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RAG pipeline — any YouTube URL, ingested in real 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502920" y="349300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822960" y="3493008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LangGraph ReAct agent with citation-enforced answers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502920" y="380390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822960" y="3803904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Local Whisper GPU transcription for voice input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502920" y="41148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822960" y="4114800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Streamlit split-screen app with dynamic ingestion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502920" y="442569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822960" y="4425696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LangSmith tracing — 50 traces, 0% errors, $0.02 cost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4663440" y="2834640"/>
            <a:ext cx="13716" cy="2103120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"/>
          <p:cNvSpPr/>
          <p:nvPr/>
        </p:nvSpPr>
        <p:spPr>
          <a:xfrm>
            <a:off x="4892040" y="28346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999999"/>
                </a:solidFill>
                <a:latin typeface="Trebuchet MS"/>
                <a:ea typeface="Trebuchet MS"/>
                <a:cs typeface="Trebuchet MS"/>
                <a:sym typeface="Trebuchet MS"/>
              </a:rPr>
              <a:t>Next steps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4892040" y="318211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5212080" y="3182112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Clickable timestamps linking to source moment in video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4892040" y="349300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5212080" y="3493008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Persistent cross-session memory via Redis or SQLite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4892040" y="380390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5212080" y="3803904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Public deployment on Streamlit Community Cloud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4892040" y="41148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5212080" y="411480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Whisper re-ingestion for all existing videos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4892040" y="442569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5212080" y="4425696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User auth for private video libraries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502920" y="4754880"/>
            <a:ext cx="8229600" cy="1371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502920" y="481888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Business applications: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2514600" y="4818888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Competitor analysis  ·  Sales call review  ·  Market research  ·  E-learning Q&amp;A  ·  Podcast search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2026-03-10T23:51:33Z</dcterms:created>
  <dc:creator>Armando Lopez</dc:creator>
</cp:coreProperties>
</file>